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2" r:id="rId4"/>
    <p:sldId id="258" r:id="rId5"/>
    <p:sldId id="263" r:id="rId6"/>
    <p:sldId id="261"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07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21157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721671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952224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44865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138412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033828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77661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276469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591618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7/17/2026</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87338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7/17/2026</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175004211"/>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purdueuniversityglobal.vitalsource.com/books/9780134380735"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3B0A228-9EA3-4009-A82E-9402BBC72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B75C73-3BAF-1019-D920-5A772E1921CC}"/>
              </a:ext>
            </a:extLst>
          </p:cNvPr>
          <p:cNvSpPr>
            <a:spLocks noGrp="1"/>
          </p:cNvSpPr>
          <p:nvPr>
            <p:ph type="ctrTitle"/>
          </p:nvPr>
        </p:nvSpPr>
        <p:spPr>
          <a:xfrm>
            <a:off x="1143001" y="1181101"/>
            <a:ext cx="4953000" cy="2481974"/>
          </a:xfrm>
        </p:spPr>
        <p:txBody>
          <a:bodyPr>
            <a:normAutofit/>
          </a:bodyPr>
          <a:lstStyle/>
          <a:p>
            <a:r>
              <a:rPr lang="en-US" dirty="0"/>
              <a:t>Gestalt </a:t>
            </a:r>
            <a:br>
              <a:rPr lang="en-US" dirty="0"/>
            </a:br>
            <a:r>
              <a:rPr lang="en-US" dirty="0"/>
              <a:t>Principles and Design</a:t>
            </a:r>
          </a:p>
        </p:txBody>
      </p:sp>
      <p:sp>
        <p:nvSpPr>
          <p:cNvPr id="3" name="Subtitle 2">
            <a:extLst>
              <a:ext uri="{FF2B5EF4-FFF2-40B4-BE49-F238E27FC236}">
                <a16:creationId xmlns:a16="http://schemas.microsoft.com/office/drawing/2014/main" id="{14176AEF-52A3-B0A4-851C-85D43ECEFD54}"/>
              </a:ext>
            </a:extLst>
          </p:cNvPr>
          <p:cNvSpPr>
            <a:spLocks noGrp="1"/>
          </p:cNvSpPr>
          <p:nvPr>
            <p:ph type="subTitle" idx="1"/>
          </p:nvPr>
        </p:nvSpPr>
        <p:spPr>
          <a:xfrm>
            <a:off x="1143001" y="4360719"/>
            <a:ext cx="2679356" cy="1465118"/>
          </a:xfrm>
        </p:spPr>
        <p:txBody>
          <a:bodyPr anchor="b">
            <a:normAutofit/>
          </a:bodyPr>
          <a:lstStyle/>
          <a:p>
            <a:r>
              <a:rPr lang="en-US" dirty="0"/>
              <a:t>By Christian McLean</a:t>
            </a:r>
          </a:p>
          <a:p>
            <a:r>
              <a:rPr lang="en-US" dirty="0"/>
              <a:t>IT302  Human Computer Interaction</a:t>
            </a:r>
          </a:p>
          <a:p>
            <a:r>
              <a:rPr lang="en-US" dirty="0"/>
              <a:t>Professor Peng Chu</a:t>
            </a:r>
          </a:p>
        </p:txBody>
      </p:sp>
      <p:pic>
        <p:nvPicPr>
          <p:cNvPr id="4" name="Picture 3" descr="A mosaic of colorful geometric shapes">
            <a:extLst>
              <a:ext uri="{FF2B5EF4-FFF2-40B4-BE49-F238E27FC236}">
                <a16:creationId xmlns:a16="http://schemas.microsoft.com/office/drawing/2014/main" id="{C338E611-93BE-B18B-8123-D2504379430B}"/>
              </a:ext>
            </a:extLst>
          </p:cNvPr>
          <p:cNvPicPr>
            <a:picLocks noChangeAspect="1"/>
          </p:cNvPicPr>
          <p:nvPr/>
        </p:nvPicPr>
        <p:blipFill>
          <a:blip r:embed="rId2"/>
          <a:srcRect r="5139"/>
          <a:stretch/>
        </p:blipFill>
        <p:spPr>
          <a:xfrm>
            <a:off x="3093268" y="10"/>
            <a:ext cx="9098732" cy="6857990"/>
          </a:xfrm>
          <a:custGeom>
            <a:avLst/>
            <a:gdLst/>
            <a:ahLst/>
            <a:cxnLst/>
            <a:rect l="l" t="t" r="r" b="b"/>
            <a:pathLst>
              <a:path w="9098732" h="6858000">
                <a:moveTo>
                  <a:pt x="6010592" y="0"/>
                </a:moveTo>
                <a:lnTo>
                  <a:pt x="8235629" y="4"/>
                </a:lnTo>
                <a:cubicBezTo>
                  <a:pt x="8235629" y="3"/>
                  <a:pt x="8235630" y="3"/>
                  <a:pt x="8235630" y="2"/>
                </a:cubicBezTo>
                <a:lnTo>
                  <a:pt x="9098732" y="0"/>
                </a:lnTo>
                <a:lnTo>
                  <a:pt x="9098732" y="6858000"/>
                </a:lnTo>
                <a:lnTo>
                  <a:pt x="0" y="6858000"/>
                </a:lnTo>
                <a:lnTo>
                  <a:pt x="6010589" y="4"/>
                </a:lnTo>
                <a:cubicBezTo>
                  <a:pt x="6010589" y="3"/>
                  <a:pt x="6010590" y="3"/>
                  <a:pt x="6010590" y="2"/>
                </a:cubicBezTo>
                <a:close/>
              </a:path>
            </a:pathLst>
          </a:custGeom>
        </p:spPr>
      </p:pic>
      <p:sp>
        <p:nvSpPr>
          <p:cNvPr id="11" name="Freeform: Shape 10">
            <a:extLst>
              <a:ext uri="{FF2B5EF4-FFF2-40B4-BE49-F238E27FC236}">
                <a16:creationId xmlns:a16="http://schemas.microsoft.com/office/drawing/2014/main" id="{02E0C409-730D-455F-AA8F-0646ABDB1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8973" y="0"/>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alpha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5692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0EE1EF-A28C-5017-6240-926C150862AF}"/>
              </a:ext>
            </a:extLst>
          </p:cNvPr>
          <p:cNvSpPr txBox="1"/>
          <p:nvPr/>
        </p:nvSpPr>
        <p:spPr>
          <a:xfrm>
            <a:off x="1966127" y="-70199"/>
            <a:ext cx="8259745" cy="830997"/>
          </a:xfrm>
          <a:prstGeom prst="rect">
            <a:avLst/>
          </a:prstGeom>
          <a:noFill/>
        </p:spPr>
        <p:txBody>
          <a:bodyPr wrap="square" rtlCol="0">
            <a:spAutoFit/>
          </a:bodyPr>
          <a:lstStyle/>
          <a:p>
            <a:pPr algn="ctr"/>
            <a:r>
              <a:rPr lang="en-US" sz="4800" dirty="0"/>
              <a:t>Gestalt Principles</a:t>
            </a:r>
          </a:p>
        </p:txBody>
      </p:sp>
      <p:sp>
        <p:nvSpPr>
          <p:cNvPr id="3" name="TextBox 2">
            <a:extLst>
              <a:ext uri="{FF2B5EF4-FFF2-40B4-BE49-F238E27FC236}">
                <a16:creationId xmlns:a16="http://schemas.microsoft.com/office/drawing/2014/main" id="{E4B2FD1A-67EE-47F9-5C2B-F9EE3968EE87}"/>
              </a:ext>
            </a:extLst>
          </p:cNvPr>
          <p:cNvSpPr txBox="1"/>
          <p:nvPr/>
        </p:nvSpPr>
        <p:spPr>
          <a:xfrm>
            <a:off x="3765755" y="1372290"/>
            <a:ext cx="3834580" cy="1477328"/>
          </a:xfrm>
          <a:prstGeom prst="rect">
            <a:avLst/>
          </a:prstGeom>
          <a:noFill/>
        </p:spPr>
        <p:txBody>
          <a:bodyPr wrap="square" rtlCol="0">
            <a:spAutoFit/>
          </a:bodyPr>
          <a:lstStyle/>
          <a:p>
            <a:pPr algn="ctr"/>
            <a:r>
              <a:rPr lang="en-US" dirty="0"/>
              <a:t>Proximity : </a:t>
            </a:r>
          </a:p>
          <a:p>
            <a:pPr algn="ctr"/>
            <a:endParaRPr lang="en-US" dirty="0"/>
          </a:p>
          <a:p>
            <a:pPr algn="ctr"/>
            <a:r>
              <a:rPr lang="en-US" dirty="0"/>
              <a:t>Objects that are near one another tend to be seen as a group or perceived to be related.</a:t>
            </a:r>
          </a:p>
        </p:txBody>
      </p:sp>
      <p:sp>
        <p:nvSpPr>
          <p:cNvPr id="4" name="TextBox 3">
            <a:extLst>
              <a:ext uri="{FF2B5EF4-FFF2-40B4-BE49-F238E27FC236}">
                <a16:creationId xmlns:a16="http://schemas.microsoft.com/office/drawing/2014/main" id="{B75D6A1C-BF1B-965D-DE87-7A340636996A}"/>
              </a:ext>
            </a:extLst>
          </p:cNvPr>
          <p:cNvSpPr txBox="1"/>
          <p:nvPr/>
        </p:nvSpPr>
        <p:spPr>
          <a:xfrm>
            <a:off x="4277032" y="3881885"/>
            <a:ext cx="3048000" cy="1477328"/>
          </a:xfrm>
          <a:prstGeom prst="rect">
            <a:avLst/>
          </a:prstGeom>
          <a:noFill/>
        </p:spPr>
        <p:txBody>
          <a:bodyPr wrap="square" rtlCol="0">
            <a:spAutoFit/>
          </a:bodyPr>
          <a:lstStyle/>
          <a:p>
            <a:pPr algn="ctr"/>
            <a:r>
              <a:rPr lang="en-US" dirty="0"/>
              <a:t>Similarity :</a:t>
            </a:r>
          </a:p>
          <a:p>
            <a:pPr algn="ctr"/>
            <a:endParaRPr lang="en-US" dirty="0"/>
          </a:p>
          <a:p>
            <a:pPr algn="ctr"/>
            <a:r>
              <a:rPr lang="en-US" dirty="0"/>
              <a:t>Objects that seem to be similar are perceived in the same group or category. </a:t>
            </a:r>
          </a:p>
        </p:txBody>
      </p:sp>
      <p:sp>
        <p:nvSpPr>
          <p:cNvPr id="5" name="TextBox 4">
            <a:extLst>
              <a:ext uri="{FF2B5EF4-FFF2-40B4-BE49-F238E27FC236}">
                <a16:creationId xmlns:a16="http://schemas.microsoft.com/office/drawing/2014/main" id="{D49A43C8-F3D7-EAF3-9CDC-BD2564E1009F}"/>
              </a:ext>
            </a:extLst>
          </p:cNvPr>
          <p:cNvSpPr txBox="1"/>
          <p:nvPr/>
        </p:nvSpPr>
        <p:spPr>
          <a:xfrm>
            <a:off x="8468084" y="1095290"/>
            <a:ext cx="3303638" cy="2031325"/>
          </a:xfrm>
          <a:prstGeom prst="rect">
            <a:avLst/>
          </a:prstGeom>
          <a:noFill/>
        </p:spPr>
        <p:txBody>
          <a:bodyPr wrap="square" rtlCol="0">
            <a:spAutoFit/>
          </a:bodyPr>
          <a:lstStyle/>
          <a:p>
            <a:pPr algn="ctr"/>
            <a:r>
              <a:rPr lang="en-US" dirty="0"/>
              <a:t>Continuation :</a:t>
            </a:r>
          </a:p>
          <a:p>
            <a:pPr algn="ctr"/>
            <a:endParaRPr lang="en-US" dirty="0"/>
          </a:p>
          <a:p>
            <a:pPr algn="ctr"/>
            <a:r>
              <a:rPr lang="en-US" b="0" i="0" dirty="0">
                <a:effectLst/>
              </a:rPr>
              <a:t>The eye is inclined to move through one object and continue to another object if the lines, edges, or curves suggest this movement.</a:t>
            </a:r>
            <a:endParaRPr lang="en-US" dirty="0"/>
          </a:p>
        </p:txBody>
      </p:sp>
      <p:sp>
        <p:nvSpPr>
          <p:cNvPr id="6" name="TextBox 5">
            <a:extLst>
              <a:ext uri="{FF2B5EF4-FFF2-40B4-BE49-F238E27FC236}">
                <a16:creationId xmlns:a16="http://schemas.microsoft.com/office/drawing/2014/main" id="{F67B002C-F087-0577-367E-5891BC90C194}"/>
              </a:ext>
            </a:extLst>
          </p:cNvPr>
          <p:cNvSpPr txBox="1"/>
          <p:nvPr/>
        </p:nvSpPr>
        <p:spPr>
          <a:xfrm>
            <a:off x="609275" y="3743386"/>
            <a:ext cx="2713703" cy="1754326"/>
          </a:xfrm>
          <a:prstGeom prst="rect">
            <a:avLst/>
          </a:prstGeom>
          <a:noFill/>
        </p:spPr>
        <p:txBody>
          <a:bodyPr wrap="square" rtlCol="0">
            <a:spAutoFit/>
          </a:bodyPr>
          <a:lstStyle/>
          <a:p>
            <a:pPr algn="ctr"/>
            <a:r>
              <a:rPr lang="en-US" dirty="0"/>
              <a:t>Closure :</a:t>
            </a:r>
          </a:p>
          <a:p>
            <a:pPr algn="ctr"/>
            <a:endParaRPr lang="en-US" dirty="0"/>
          </a:p>
          <a:p>
            <a:pPr algn="ctr"/>
            <a:r>
              <a:rPr lang="en-US" dirty="0"/>
              <a:t>Even when an object is incomplete, we tend to see it by filling in missing information.</a:t>
            </a:r>
          </a:p>
        </p:txBody>
      </p:sp>
      <p:sp>
        <p:nvSpPr>
          <p:cNvPr id="8" name="TextBox 7">
            <a:extLst>
              <a:ext uri="{FF2B5EF4-FFF2-40B4-BE49-F238E27FC236}">
                <a16:creationId xmlns:a16="http://schemas.microsoft.com/office/drawing/2014/main" id="{D186A497-A7C1-EB77-4859-64F400C8E0B3}"/>
              </a:ext>
            </a:extLst>
          </p:cNvPr>
          <p:cNvSpPr txBox="1"/>
          <p:nvPr/>
        </p:nvSpPr>
        <p:spPr>
          <a:xfrm>
            <a:off x="795158" y="1095291"/>
            <a:ext cx="2507226" cy="2031325"/>
          </a:xfrm>
          <a:prstGeom prst="rect">
            <a:avLst/>
          </a:prstGeom>
          <a:noFill/>
        </p:spPr>
        <p:txBody>
          <a:bodyPr wrap="square" rtlCol="0">
            <a:spAutoFit/>
          </a:bodyPr>
          <a:lstStyle/>
          <a:p>
            <a:pPr algn="ctr"/>
            <a:r>
              <a:rPr lang="en-US" dirty="0"/>
              <a:t>Figure/Ground :</a:t>
            </a:r>
          </a:p>
          <a:p>
            <a:pPr algn="ctr"/>
            <a:endParaRPr lang="en-US" dirty="0"/>
          </a:p>
          <a:p>
            <a:pPr algn="ctr"/>
            <a:r>
              <a:rPr lang="en-US" dirty="0"/>
              <a:t>We naturally separate elements into foreground (figure) and background (ground).</a:t>
            </a:r>
          </a:p>
        </p:txBody>
      </p:sp>
      <p:sp>
        <p:nvSpPr>
          <p:cNvPr id="10" name="TextBox 9">
            <a:extLst>
              <a:ext uri="{FF2B5EF4-FFF2-40B4-BE49-F238E27FC236}">
                <a16:creationId xmlns:a16="http://schemas.microsoft.com/office/drawing/2014/main" id="{326A6169-86A4-F717-2D13-D0BB7D1B4C0C}"/>
              </a:ext>
            </a:extLst>
          </p:cNvPr>
          <p:cNvSpPr txBox="1"/>
          <p:nvPr/>
        </p:nvSpPr>
        <p:spPr>
          <a:xfrm>
            <a:off x="8898848" y="3604886"/>
            <a:ext cx="2723536" cy="2031325"/>
          </a:xfrm>
          <a:prstGeom prst="rect">
            <a:avLst/>
          </a:prstGeom>
          <a:noFill/>
        </p:spPr>
        <p:txBody>
          <a:bodyPr wrap="square" rtlCol="0">
            <a:spAutoFit/>
          </a:bodyPr>
          <a:lstStyle/>
          <a:p>
            <a:pPr algn="ctr"/>
            <a:r>
              <a:rPr lang="en-US" dirty="0"/>
              <a:t>Good Continuation :</a:t>
            </a:r>
          </a:p>
          <a:p>
            <a:pPr algn="ctr"/>
            <a:endParaRPr lang="en-US" dirty="0"/>
          </a:p>
          <a:p>
            <a:pPr algn="ctr"/>
            <a:r>
              <a:rPr lang="en-US" dirty="0"/>
              <a:t>Elements arranged in a line or curve are perceived to be more related than elements not in line.</a:t>
            </a:r>
          </a:p>
        </p:txBody>
      </p:sp>
    </p:spTree>
    <p:extLst>
      <p:ext uri="{BB962C8B-B14F-4D97-AF65-F5344CB8AC3E}">
        <p14:creationId xmlns:p14="http://schemas.microsoft.com/office/powerpoint/2010/main" val="239733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9969C-0695-03CA-C0FF-399A627DAE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475546-D278-CDE4-6D7F-388AB5D1B1D9}"/>
              </a:ext>
            </a:extLst>
          </p:cNvPr>
          <p:cNvSpPr txBox="1"/>
          <p:nvPr/>
        </p:nvSpPr>
        <p:spPr>
          <a:xfrm>
            <a:off x="1794169" y="38471"/>
            <a:ext cx="8259745" cy="830997"/>
          </a:xfrm>
          <a:prstGeom prst="rect">
            <a:avLst/>
          </a:prstGeom>
          <a:noFill/>
        </p:spPr>
        <p:txBody>
          <a:bodyPr wrap="square" rtlCol="0">
            <a:spAutoFit/>
          </a:bodyPr>
          <a:lstStyle/>
          <a:p>
            <a:pPr algn="ctr"/>
            <a:r>
              <a:rPr lang="en-US" sz="4800" dirty="0"/>
              <a:t>Gestalt Principles</a:t>
            </a:r>
          </a:p>
        </p:txBody>
      </p:sp>
      <p:sp>
        <p:nvSpPr>
          <p:cNvPr id="4" name="TextBox 3">
            <a:extLst>
              <a:ext uri="{FF2B5EF4-FFF2-40B4-BE49-F238E27FC236}">
                <a16:creationId xmlns:a16="http://schemas.microsoft.com/office/drawing/2014/main" id="{00F17022-C220-A419-4959-693552D237D3}"/>
              </a:ext>
            </a:extLst>
          </p:cNvPr>
          <p:cNvSpPr txBox="1"/>
          <p:nvPr/>
        </p:nvSpPr>
        <p:spPr>
          <a:xfrm>
            <a:off x="8072072" y="843677"/>
            <a:ext cx="3817426" cy="3693319"/>
          </a:xfrm>
          <a:prstGeom prst="rect">
            <a:avLst/>
          </a:prstGeom>
          <a:noFill/>
        </p:spPr>
        <p:txBody>
          <a:bodyPr wrap="square" rtlCol="0">
            <a:spAutoFit/>
          </a:bodyPr>
          <a:lstStyle/>
          <a:p>
            <a:pPr algn="ctr"/>
            <a:r>
              <a:rPr lang="en-US" dirty="0"/>
              <a:t>Emergence :</a:t>
            </a:r>
          </a:p>
          <a:p>
            <a:pPr algn="ctr"/>
            <a:endParaRPr lang="en-US" dirty="0"/>
          </a:p>
          <a:p>
            <a:pPr algn="ctr"/>
            <a:r>
              <a:rPr lang="en-US" dirty="0"/>
              <a:t>Emergence refers to the phenomenon where complex patterns or forms seem to arise spontaneously from simpler or chaotic components, creating an organized, recognizable whole. This principle suggests that we see more than just the sum of parts; we perceive a new entity that emerges from the arrangement of these parts.</a:t>
            </a:r>
          </a:p>
        </p:txBody>
      </p:sp>
      <p:sp>
        <p:nvSpPr>
          <p:cNvPr id="5" name="TextBox 4">
            <a:extLst>
              <a:ext uri="{FF2B5EF4-FFF2-40B4-BE49-F238E27FC236}">
                <a16:creationId xmlns:a16="http://schemas.microsoft.com/office/drawing/2014/main" id="{53D77370-8729-F868-B156-A65A47100005}"/>
              </a:ext>
            </a:extLst>
          </p:cNvPr>
          <p:cNvSpPr txBox="1"/>
          <p:nvPr/>
        </p:nvSpPr>
        <p:spPr>
          <a:xfrm>
            <a:off x="4262696" y="1561911"/>
            <a:ext cx="3303638" cy="3416320"/>
          </a:xfrm>
          <a:prstGeom prst="rect">
            <a:avLst/>
          </a:prstGeom>
          <a:noFill/>
        </p:spPr>
        <p:txBody>
          <a:bodyPr wrap="square" rtlCol="0">
            <a:spAutoFit/>
          </a:bodyPr>
          <a:lstStyle/>
          <a:p>
            <a:pPr algn="ctr"/>
            <a:r>
              <a:rPr lang="en-US" dirty="0"/>
              <a:t>Multiusability :</a:t>
            </a:r>
          </a:p>
          <a:p>
            <a:pPr algn="ctr"/>
            <a:endParaRPr lang="en-US" dirty="0"/>
          </a:p>
          <a:p>
            <a:pPr algn="ctr"/>
            <a:r>
              <a:rPr lang="en-US" b="0" i="0" dirty="0">
                <a:effectLst/>
              </a:rPr>
              <a:t>Is the ability of a visual stimulus to be perceived in more than one stable way, where the brain can switch back and forth between these different perceptions. This phenomenon occurs because our visual system can interpret ambiguous stimuli in multiple configurations.</a:t>
            </a:r>
            <a:endParaRPr lang="en-US" dirty="0"/>
          </a:p>
        </p:txBody>
      </p:sp>
      <p:sp>
        <p:nvSpPr>
          <p:cNvPr id="7" name="TextBox 6">
            <a:extLst>
              <a:ext uri="{FF2B5EF4-FFF2-40B4-BE49-F238E27FC236}">
                <a16:creationId xmlns:a16="http://schemas.microsoft.com/office/drawing/2014/main" id="{6BA340B1-5DED-4B4D-7511-19F95459F305}"/>
              </a:ext>
            </a:extLst>
          </p:cNvPr>
          <p:cNvSpPr txBox="1"/>
          <p:nvPr/>
        </p:nvSpPr>
        <p:spPr>
          <a:xfrm>
            <a:off x="8731259" y="4655066"/>
            <a:ext cx="2821858" cy="1754326"/>
          </a:xfrm>
          <a:prstGeom prst="rect">
            <a:avLst/>
          </a:prstGeom>
          <a:noFill/>
        </p:spPr>
        <p:txBody>
          <a:bodyPr wrap="square" rtlCol="0">
            <a:spAutoFit/>
          </a:bodyPr>
          <a:lstStyle/>
          <a:p>
            <a:pPr algn="ctr"/>
            <a:r>
              <a:rPr lang="en-US" dirty="0"/>
              <a:t>Symmetry and Order :</a:t>
            </a:r>
          </a:p>
          <a:p>
            <a:pPr algn="ctr"/>
            <a:endParaRPr lang="en-US" dirty="0"/>
          </a:p>
          <a:p>
            <a:pPr algn="ctr"/>
            <a:r>
              <a:rPr lang="en-US" dirty="0"/>
              <a:t>Symmetrical or orderly arrangements are perceived as belonging together.</a:t>
            </a:r>
          </a:p>
        </p:txBody>
      </p:sp>
      <p:sp>
        <p:nvSpPr>
          <p:cNvPr id="9" name="TextBox 8">
            <a:extLst>
              <a:ext uri="{FF2B5EF4-FFF2-40B4-BE49-F238E27FC236}">
                <a16:creationId xmlns:a16="http://schemas.microsoft.com/office/drawing/2014/main" id="{48091C55-667C-E1ED-0253-47EEB6501FE1}"/>
              </a:ext>
            </a:extLst>
          </p:cNvPr>
          <p:cNvSpPr txBox="1"/>
          <p:nvPr/>
        </p:nvSpPr>
        <p:spPr>
          <a:xfrm>
            <a:off x="420489" y="843677"/>
            <a:ext cx="2507226" cy="2585323"/>
          </a:xfrm>
          <a:prstGeom prst="rect">
            <a:avLst/>
          </a:prstGeom>
          <a:noFill/>
        </p:spPr>
        <p:txBody>
          <a:bodyPr wrap="square" rtlCol="0">
            <a:spAutoFit/>
          </a:bodyPr>
          <a:lstStyle/>
          <a:p>
            <a:pPr algn="ctr"/>
            <a:r>
              <a:rPr lang="en-US" dirty="0"/>
              <a:t>Common Fate :</a:t>
            </a:r>
          </a:p>
          <a:p>
            <a:pPr algn="ctr"/>
            <a:endParaRPr lang="en-US" dirty="0"/>
          </a:p>
          <a:p>
            <a:pPr algn="ctr"/>
            <a:r>
              <a:rPr lang="en-US" dirty="0"/>
              <a:t>Elements moving in the same direction are perceived as more related than elements that are stationary or moving in different directions.</a:t>
            </a:r>
          </a:p>
        </p:txBody>
      </p:sp>
      <p:sp>
        <p:nvSpPr>
          <p:cNvPr id="10" name="TextBox 9">
            <a:extLst>
              <a:ext uri="{FF2B5EF4-FFF2-40B4-BE49-F238E27FC236}">
                <a16:creationId xmlns:a16="http://schemas.microsoft.com/office/drawing/2014/main" id="{D3331918-4F2F-B13D-F4ED-157BB504ACE6}"/>
              </a:ext>
            </a:extLst>
          </p:cNvPr>
          <p:cNvSpPr txBox="1"/>
          <p:nvPr/>
        </p:nvSpPr>
        <p:spPr>
          <a:xfrm>
            <a:off x="-168622" y="3547070"/>
            <a:ext cx="3925581" cy="2862322"/>
          </a:xfrm>
          <a:prstGeom prst="rect">
            <a:avLst/>
          </a:prstGeom>
          <a:noFill/>
        </p:spPr>
        <p:txBody>
          <a:bodyPr wrap="square" rtlCol="0">
            <a:spAutoFit/>
          </a:bodyPr>
          <a:lstStyle/>
          <a:p>
            <a:pPr algn="ctr"/>
            <a:r>
              <a:rPr lang="en-US" dirty="0"/>
              <a:t>Invariance :</a:t>
            </a:r>
          </a:p>
          <a:p>
            <a:pPr algn="ctr"/>
            <a:endParaRPr lang="en-US" dirty="0"/>
          </a:p>
          <a:p>
            <a:pPr algn="ctr"/>
            <a:r>
              <a:rPr lang="en-US" dirty="0"/>
              <a:t> essentially deals with the idea that we recognize objects as the same even when they are presented differently due to changes in scale, rotation, translation, or other transformations. This principle is crucial in visual perception and design. </a:t>
            </a:r>
          </a:p>
        </p:txBody>
      </p:sp>
    </p:spTree>
    <p:extLst>
      <p:ext uri="{BB962C8B-B14F-4D97-AF65-F5344CB8AC3E}">
        <p14:creationId xmlns:p14="http://schemas.microsoft.com/office/powerpoint/2010/main" val="400979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1977-72BD-A1A4-138C-695F663A97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A22868-AA22-6BC1-1837-3D61887FCEE6}"/>
              </a:ext>
            </a:extLst>
          </p:cNvPr>
          <p:cNvSpPr txBox="1"/>
          <p:nvPr/>
        </p:nvSpPr>
        <p:spPr>
          <a:xfrm>
            <a:off x="1808920" y="-90327"/>
            <a:ext cx="8259745" cy="830997"/>
          </a:xfrm>
          <a:prstGeom prst="rect">
            <a:avLst/>
          </a:prstGeom>
          <a:noFill/>
        </p:spPr>
        <p:txBody>
          <a:bodyPr wrap="square" rtlCol="0">
            <a:spAutoFit/>
          </a:bodyPr>
          <a:lstStyle/>
          <a:p>
            <a:pPr algn="ctr"/>
            <a:r>
              <a:rPr lang="en-US" sz="4800" dirty="0"/>
              <a:t>Gestalt Principles in Design</a:t>
            </a:r>
          </a:p>
        </p:txBody>
      </p:sp>
      <p:sp>
        <p:nvSpPr>
          <p:cNvPr id="3" name="TextBox 2">
            <a:extLst>
              <a:ext uri="{FF2B5EF4-FFF2-40B4-BE49-F238E27FC236}">
                <a16:creationId xmlns:a16="http://schemas.microsoft.com/office/drawing/2014/main" id="{35E1279B-24AC-7675-BE8F-93ABAB8EAC86}"/>
              </a:ext>
            </a:extLst>
          </p:cNvPr>
          <p:cNvSpPr txBox="1"/>
          <p:nvPr/>
        </p:nvSpPr>
        <p:spPr>
          <a:xfrm>
            <a:off x="997978" y="653674"/>
            <a:ext cx="3077497" cy="2862322"/>
          </a:xfrm>
          <a:prstGeom prst="rect">
            <a:avLst/>
          </a:prstGeom>
          <a:noFill/>
        </p:spPr>
        <p:txBody>
          <a:bodyPr wrap="square" rtlCol="0">
            <a:spAutoFit/>
          </a:bodyPr>
          <a:lstStyle/>
          <a:p>
            <a:pPr algn="ctr"/>
            <a:r>
              <a:rPr lang="en-US" dirty="0"/>
              <a:t>Proximity :</a:t>
            </a:r>
          </a:p>
          <a:p>
            <a:pPr algn="ctr"/>
            <a:r>
              <a:rPr lang="en-US" dirty="0"/>
              <a:t>Designers use proximity to create relationships between elements. Items placed close together are seen as belonging together, which helps in organizing content and improving navigation on websites, in apps, or on any visual medium.</a:t>
            </a:r>
          </a:p>
        </p:txBody>
      </p:sp>
      <p:sp>
        <p:nvSpPr>
          <p:cNvPr id="4" name="TextBox 3">
            <a:extLst>
              <a:ext uri="{FF2B5EF4-FFF2-40B4-BE49-F238E27FC236}">
                <a16:creationId xmlns:a16="http://schemas.microsoft.com/office/drawing/2014/main" id="{EB2E9E73-A6E5-16AD-D88C-802B62FD7B72}"/>
              </a:ext>
            </a:extLst>
          </p:cNvPr>
          <p:cNvSpPr txBox="1"/>
          <p:nvPr/>
        </p:nvSpPr>
        <p:spPr>
          <a:xfrm>
            <a:off x="997978" y="3825832"/>
            <a:ext cx="3033252" cy="2862322"/>
          </a:xfrm>
          <a:prstGeom prst="rect">
            <a:avLst/>
          </a:prstGeom>
          <a:noFill/>
        </p:spPr>
        <p:txBody>
          <a:bodyPr wrap="square" rtlCol="0">
            <a:spAutoFit/>
          </a:bodyPr>
          <a:lstStyle/>
          <a:p>
            <a:pPr algn="ctr"/>
            <a:r>
              <a:rPr lang="en-US" dirty="0"/>
              <a:t>Similarity :</a:t>
            </a:r>
          </a:p>
          <a:p>
            <a:pPr algn="ctr"/>
            <a:r>
              <a:rPr lang="en-US" dirty="0"/>
              <a:t>This can involve using the same color, shape, size, or texture for related items. For example, using a consistent style for buttons on a website so users immediately recognize them as interactive elements.</a:t>
            </a:r>
          </a:p>
          <a:p>
            <a:pPr algn="ctr"/>
            <a:endParaRPr lang="en-US" dirty="0"/>
          </a:p>
        </p:txBody>
      </p:sp>
      <p:sp>
        <p:nvSpPr>
          <p:cNvPr id="5" name="TextBox 4">
            <a:extLst>
              <a:ext uri="{FF2B5EF4-FFF2-40B4-BE49-F238E27FC236}">
                <a16:creationId xmlns:a16="http://schemas.microsoft.com/office/drawing/2014/main" id="{5FB29047-67A1-5E5B-E8DF-0E5E8C2766F7}"/>
              </a:ext>
            </a:extLst>
          </p:cNvPr>
          <p:cNvSpPr txBox="1"/>
          <p:nvPr/>
        </p:nvSpPr>
        <p:spPr>
          <a:xfrm>
            <a:off x="4817807" y="690603"/>
            <a:ext cx="2674373" cy="2862322"/>
          </a:xfrm>
          <a:prstGeom prst="rect">
            <a:avLst/>
          </a:prstGeom>
          <a:noFill/>
        </p:spPr>
        <p:txBody>
          <a:bodyPr wrap="square" rtlCol="0">
            <a:spAutoFit/>
          </a:bodyPr>
          <a:lstStyle/>
          <a:p>
            <a:pPr algn="ctr"/>
            <a:r>
              <a:rPr lang="en-US" dirty="0"/>
              <a:t>Continuation :</a:t>
            </a:r>
          </a:p>
          <a:p>
            <a:pPr algn="ctr"/>
            <a:r>
              <a:rPr lang="en-US" dirty="0"/>
              <a:t> Designers might align text or use lines in a way that guides the viewer's eye in a particular direction, often to lead them through the content in a logical or aesthetically pleasing manner.</a:t>
            </a:r>
          </a:p>
        </p:txBody>
      </p:sp>
      <p:sp>
        <p:nvSpPr>
          <p:cNvPr id="6" name="TextBox 5">
            <a:extLst>
              <a:ext uri="{FF2B5EF4-FFF2-40B4-BE49-F238E27FC236}">
                <a16:creationId xmlns:a16="http://schemas.microsoft.com/office/drawing/2014/main" id="{8C361BBA-10A9-3907-FFAD-8DF759718566}"/>
              </a:ext>
            </a:extLst>
          </p:cNvPr>
          <p:cNvSpPr txBox="1"/>
          <p:nvPr/>
        </p:nvSpPr>
        <p:spPr>
          <a:xfrm>
            <a:off x="4876802" y="3969553"/>
            <a:ext cx="2556384" cy="2308324"/>
          </a:xfrm>
          <a:prstGeom prst="rect">
            <a:avLst/>
          </a:prstGeom>
          <a:noFill/>
        </p:spPr>
        <p:txBody>
          <a:bodyPr wrap="square" rtlCol="0">
            <a:spAutoFit/>
          </a:bodyPr>
          <a:lstStyle/>
          <a:p>
            <a:pPr algn="ctr"/>
            <a:r>
              <a:rPr lang="en-US" dirty="0"/>
              <a:t>Good Continuation :</a:t>
            </a:r>
          </a:p>
          <a:p>
            <a:pPr algn="ctr"/>
            <a:r>
              <a:rPr lang="en-US" dirty="0"/>
              <a:t>This can be used to guide the viewer's eye through different sections of a design, or to imply a connection between elements through alignment.</a:t>
            </a:r>
          </a:p>
        </p:txBody>
      </p:sp>
      <p:sp>
        <p:nvSpPr>
          <p:cNvPr id="7" name="TextBox 6">
            <a:extLst>
              <a:ext uri="{FF2B5EF4-FFF2-40B4-BE49-F238E27FC236}">
                <a16:creationId xmlns:a16="http://schemas.microsoft.com/office/drawing/2014/main" id="{F64E30BD-C551-312C-4ACC-C6AB51E68430}"/>
              </a:ext>
            </a:extLst>
          </p:cNvPr>
          <p:cNvSpPr txBox="1"/>
          <p:nvPr/>
        </p:nvSpPr>
        <p:spPr>
          <a:xfrm>
            <a:off x="8668000" y="740670"/>
            <a:ext cx="2688907" cy="2585323"/>
          </a:xfrm>
          <a:prstGeom prst="rect">
            <a:avLst/>
          </a:prstGeom>
          <a:noFill/>
        </p:spPr>
        <p:txBody>
          <a:bodyPr wrap="square" rtlCol="0">
            <a:spAutoFit/>
          </a:bodyPr>
          <a:lstStyle/>
          <a:p>
            <a:pPr algn="ctr"/>
            <a:r>
              <a:rPr lang="en-US" dirty="0"/>
              <a:t>Closure :</a:t>
            </a:r>
          </a:p>
          <a:p>
            <a:pPr algn="ctr"/>
            <a:r>
              <a:rPr lang="en-US" dirty="0"/>
              <a:t>This principle is used to create logos or icons where parts of the image might be left out, yet the viewer still perceives the whole shape or figure. It can make designs more interesting and engaging.</a:t>
            </a:r>
          </a:p>
        </p:txBody>
      </p:sp>
      <p:sp>
        <p:nvSpPr>
          <p:cNvPr id="8" name="TextBox 7">
            <a:extLst>
              <a:ext uri="{FF2B5EF4-FFF2-40B4-BE49-F238E27FC236}">
                <a16:creationId xmlns:a16="http://schemas.microsoft.com/office/drawing/2014/main" id="{9F503DFC-A21C-17CE-8DB2-1E9BDE2FEE3C}"/>
              </a:ext>
            </a:extLst>
          </p:cNvPr>
          <p:cNvSpPr txBox="1"/>
          <p:nvPr/>
        </p:nvSpPr>
        <p:spPr>
          <a:xfrm>
            <a:off x="8527782" y="3548833"/>
            <a:ext cx="2969342" cy="3139321"/>
          </a:xfrm>
          <a:prstGeom prst="rect">
            <a:avLst/>
          </a:prstGeom>
          <a:noFill/>
        </p:spPr>
        <p:txBody>
          <a:bodyPr wrap="square" rtlCol="0">
            <a:spAutoFit/>
          </a:bodyPr>
          <a:lstStyle/>
          <a:p>
            <a:pPr algn="ctr"/>
            <a:r>
              <a:rPr lang="en-US" dirty="0"/>
              <a:t>Symmetry and Order :</a:t>
            </a:r>
          </a:p>
          <a:p>
            <a:pPr algn="ctr"/>
            <a:r>
              <a:rPr lang="en-US" dirty="0"/>
              <a:t>Symmetry can be used to suggest harmony and balance, making interfaces feel stable and aesthetically pleasing. Asymmetric balance, where equal visual weight is created through different elements, can also be employed for dynamic designs.</a:t>
            </a:r>
          </a:p>
        </p:txBody>
      </p:sp>
    </p:spTree>
    <p:extLst>
      <p:ext uri="{BB962C8B-B14F-4D97-AF65-F5344CB8AC3E}">
        <p14:creationId xmlns:p14="http://schemas.microsoft.com/office/powerpoint/2010/main" val="3633532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82152-F79A-27AF-D228-AAFCA7BDD5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99EBE9-8E6D-BE39-625A-48A16CB35388}"/>
              </a:ext>
            </a:extLst>
          </p:cNvPr>
          <p:cNvSpPr txBox="1"/>
          <p:nvPr/>
        </p:nvSpPr>
        <p:spPr>
          <a:xfrm>
            <a:off x="1808920" y="-90327"/>
            <a:ext cx="8259745" cy="830997"/>
          </a:xfrm>
          <a:prstGeom prst="rect">
            <a:avLst/>
          </a:prstGeom>
          <a:noFill/>
        </p:spPr>
        <p:txBody>
          <a:bodyPr wrap="square" rtlCol="0">
            <a:spAutoFit/>
          </a:bodyPr>
          <a:lstStyle/>
          <a:p>
            <a:pPr algn="ctr"/>
            <a:r>
              <a:rPr lang="en-US" sz="4800" dirty="0"/>
              <a:t>Gestalt Principles in Design</a:t>
            </a:r>
          </a:p>
        </p:txBody>
      </p:sp>
      <p:sp>
        <p:nvSpPr>
          <p:cNvPr id="4" name="TextBox 3">
            <a:extLst>
              <a:ext uri="{FF2B5EF4-FFF2-40B4-BE49-F238E27FC236}">
                <a16:creationId xmlns:a16="http://schemas.microsoft.com/office/drawing/2014/main" id="{6591CA51-9582-D568-8757-364A775867DF}"/>
              </a:ext>
            </a:extLst>
          </p:cNvPr>
          <p:cNvSpPr txBox="1"/>
          <p:nvPr/>
        </p:nvSpPr>
        <p:spPr>
          <a:xfrm>
            <a:off x="0" y="3136946"/>
            <a:ext cx="4739148" cy="3416320"/>
          </a:xfrm>
          <a:prstGeom prst="rect">
            <a:avLst/>
          </a:prstGeom>
          <a:noFill/>
        </p:spPr>
        <p:txBody>
          <a:bodyPr wrap="square" rtlCol="0">
            <a:spAutoFit/>
          </a:bodyPr>
          <a:lstStyle/>
          <a:p>
            <a:pPr algn="ctr"/>
            <a:r>
              <a:rPr lang="en-US" dirty="0"/>
              <a:t>Invariance :</a:t>
            </a:r>
          </a:p>
          <a:p>
            <a:pPr algn="ctr"/>
            <a:r>
              <a:rPr lang="en-US" dirty="0"/>
              <a:t>Understanding and applying the principle of invariance in design helps ensure that designs are not only visually consistent but also functionally effective across different scenarios, ensuring that the intended message or function of the design element is preserved. This principle encourages designers to think about how elements will be perceived in varied real-world contexts, enhancing both the aesthetic and practical aspects of design</a:t>
            </a:r>
          </a:p>
        </p:txBody>
      </p:sp>
      <p:sp>
        <p:nvSpPr>
          <p:cNvPr id="5" name="TextBox 4">
            <a:extLst>
              <a:ext uri="{FF2B5EF4-FFF2-40B4-BE49-F238E27FC236}">
                <a16:creationId xmlns:a16="http://schemas.microsoft.com/office/drawing/2014/main" id="{B84B348D-F8B7-D4B7-3421-D4C0DEA70639}"/>
              </a:ext>
            </a:extLst>
          </p:cNvPr>
          <p:cNvSpPr txBox="1"/>
          <p:nvPr/>
        </p:nvSpPr>
        <p:spPr>
          <a:xfrm>
            <a:off x="137653" y="566678"/>
            <a:ext cx="4200723" cy="2308324"/>
          </a:xfrm>
          <a:prstGeom prst="rect">
            <a:avLst/>
          </a:prstGeom>
          <a:noFill/>
        </p:spPr>
        <p:txBody>
          <a:bodyPr wrap="square" rtlCol="0">
            <a:spAutoFit/>
          </a:bodyPr>
          <a:lstStyle/>
          <a:p>
            <a:pPr algn="ctr"/>
            <a:r>
              <a:rPr lang="en-US" dirty="0"/>
              <a:t>Multiusability :</a:t>
            </a:r>
          </a:p>
          <a:p>
            <a:pPr algn="ctr"/>
            <a:r>
              <a:rPr lang="en-US" dirty="0"/>
              <a:t>While "multiusability" isn't a traditional Gestalt principle, the philosophy behind it certainly employs Gestalt theory to ensure that designs are not only visually coherent but also functionally versatile, enhancing user experience across diverse scenarios.</a:t>
            </a:r>
          </a:p>
        </p:txBody>
      </p:sp>
      <p:sp>
        <p:nvSpPr>
          <p:cNvPr id="8" name="TextBox 7">
            <a:extLst>
              <a:ext uri="{FF2B5EF4-FFF2-40B4-BE49-F238E27FC236}">
                <a16:creationId xmlns:a16="http://schemas.microsoft.com/office/drawing/2014/main" id="{614A7EA1-1914-0179-CE70-47E2F5EB8C4B}"/>
              </a:ext>
            </a:extLst>
          </p:cNvPr>
          <p:cNvSpPr txBox="1"/>
          <p:nvPr/>
        </p:nvSpPr>
        <p:spPr>
          <a:xfrm>
            <a:off x="4758918" y="705040"/>
            <a:ext cx="3559280" cy="4524315"/>
          </a:xfrm>
          <a:prstGeom prst="rect">
            <a:avLst/>
          </a:prstGeom>
          <a:noFill/>
        </p:spPr>
        <p:txBody>
          <a:bodyPr wrap="square" rtlCol="0">
            <a:spAutoFit/>
          </a:bodyPr>
          <a:lstStyle/>
          <a:p>
            <a:pPr algn="ctr"/>
            <a:r>
              <a:rPr lang="en-US" dirty="0"/>
              <a:t>Emergence :</a:t>
            </a:r>
          </a:p>
          <a:p>
            <a:pPr algn="ctr"/>
            <a:r>
              <a:rPr lang="en-US" dirty="0"/>
              <a:t>While "emergence" isn't listed as one of the original Gestalt principles, understanding it through the lens of Gestalt psychology can enhance a designer's ability to create impactful, memorable, and intuitively understandable designs. The key is to create a design where the whole is not just seen as a collection of parts, but as an entity that communicates more effectively or carries more meaning than its individual components.</a:t>
            </a:r>
          </a:p>
        </p:txBody>
      </p:sp>
      <p:sp>
        <p:nvSpPr>
          <p:cNvPr id="9" name="TextBox 8">
            <a:extLst>
              <a:ext uri="{FF2B5EF4-FFF2-40B4-BE49-F238E27FC236}">
                <a16:creationId xmlns:a16="http://schemas.microsoft.com/office/drawing/2014/main" id="{70952AC0-1436-C57D-02F6-ED4099E49535}"/>
              </a:ext>
            </a:extLst>
          </p:cNvPr>
          <p:cNvSpPr txBox="1"/>
          <p:nvPr/>
        </p:nvSpPr>
        <p:spPr>
          <a:xfrm>
            <a:off x="8976850" y="691733"/>
            <a:ext cx="3077497" cy="2862322"/>
          </a:xfrm>
          <a:prstGeom prst="rect">
            <a:avLst/>
          </a:prstGeom>
          <a:noFill/>
        </p:spPr>
        <p:txBody>
          <a:bodyPr wrap="square" rtlCol="0">
            <a:spAutoFit/>
          </a:bodyPr>
          <a:lstStyle/>
          <a:p>
            <a:pPr algn="ctr"/>
            <a:r>
              <a:rPr lang="en-US" dirty="0"/>
              <a:t>Figure/Ground :</a:t>
            </a:r>
          </a:p>
          <a:p>
            <a:pPr algn="ctr"/>
            <a:r>
              <a:rPr lang="en-US" dirty="0"/>
              <a:t>This principle is crucial in creating visual hierarchy. By distinguishing between what should be seen first and what should recede, designers can control focus and attention, like using a light text on a dark background or vice versa.</a:t>
            </a:r>
          </a:p>
        </p:txBody>
      </p:sp>
      <p:sp>
        <p:nvSpPr>
          <p:cNvPr id="10" name="TextBox 9">
            <a:extLst>
              <a:ext uri="{FF2B5EF4-FFF2-40B4-BE49-F238E27FC236}">
                <a16:creationId xmlns:a16="http://schemas.microsoft.com/office/drawing/2014/main" id="{907F8A62-13ED-408C-D198-F13F5E4A5EDD}"/>
              </a:ext>
            </a:extLst>
          </p:cNvPr>
          <p:cNvSpPr txBox="1"/>
          <p:nvPr/>
        </p:nvSpPr>
        <p:spPr>
          <a:xfrm>
            <a:off x="9153831" y="3831054"/>
            <a:ext cx="2723534" cy="2585323"/>
          </a:xfrm>
          <a:prstGeom prst="rect">
            <a:avLst/>
          </a:prstGeom>
          <a:noFill/>
        </p:spPr>
        <p:txBody>
          <a:bodyPr wrap="square" rtlCol="0">
            <a:spAutoFit/>
          </a:bodyPr>
          <a:lstStyle/>
          <a:p>
            <a:pPr algn="ctr"/>
            <a:r>
              <a:rPr lang="en-US" dirty="0"/>
              <a:t>Common Fate :</a:t>
            </a:r>
          </a:p>
          <a:p>
            <a:pPr algn="ctr"/>
            <a:r>
              <a:rPr lang="en-US" dirty="0"/>
              <a:t>While less commonly used in static design, in interactive or motion design, elements that move together are perceived as part of the same interaction or group.</a:t>
            </a:r>
          </a:p>
        </p:txBody>
      </p:sp>
    </p:spTree>
    <p:extLst>
      <p:ext uri="{BB962C8B-B14F-4D97-AF65-F5344CB8AC3E}">
        <p14:creationId xmlns:p14="http://schemas.microsoft.com/office/powerpoint/2010/main" val="3606304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5E6A5-6985-88E4-3712-AD89564B16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7B8E2A-81E8-4152-2D6B-D233CBF5AB45}"/>
              </a:ext>
            </a:extLst>
          </p:cNvPr>
          <p:cNvSpPr txBox="1"/>
          <p:nvPr/>
        </p:nvSpPr>
        <p:spPr>
          <a:xfrm>
            <a:off x="8229599" y="0"/>
            <a:ext cx="3962401" cy="6986528"/>
          </a:xfrm>
          <a:prstGeom prst="rect">
            <a:avLst/>
          </a:prstGeom>
          <a:noFill/>
        </p:spPr>
        <p:txBody>
          <a:bodyPr wrap="square">
            <a:spAutoFit/>
          </a:bodyPr>
          <a:lstStyle/>
          <a:p>
            <a:r>
              <a:rPr lang="en-US" sz="1600" dirty="0"/>
              <a:t>+------------------------------+</a:t>
            </a:r>
          </a:p>
          <a:p>
            <a:r>
              <a:rPr lang="en-US" sz="1600" dirty="0"/>
              <a:t>|          Header              |</a:t>
            </a:r>
          </a:p>
          <a:p>
            <a:r>
              <a:rPr lang="en-US" sz="1600" dirty="0"/>
              <a:t>|  [Logo]   [Navigation Menu]  |</a:t>
            </a:r>
          </a:p>
          <a:p>
            <a:r>
              <a:rPr lang="en-US" sz="1600" dirty="0"/>
              <a:t>+------------------------------+</a:t>
            </a:r>
          </a:p>
          <a:p>
            <a:r>
              <a:rPr lang="en-US" sz="1600" dirty="0"/>
              <a:t>|          Hero Section        |</a:t>
            </a:r>
          </a:p>
          <a:p>
            <a:r>
              <a:rPr lang="en-US" sz="1600" dirty="0"/>
              <a:t>|  [Large Image: Battle Scene] |</a:t>
            </a:r>
          </a:p>
          <a:p>
            <a:r>
              <a:rPr lang="en-US" sz="1600" dirty="0"/>
              <a:t>|   - With overlay text        |</a:t>
            </a:r>
          </a:p>
          <a:p>
            <a:r>
              <a:rPr lang="en-US" sz="1600" dirty="0"/>
              <a:t>|   - "WAAAGH! Join the Horde" |</a:t>
            </a:r>
          </a:p>
          <a:p>
            <a:r>
              <a:rPr lang="en-US" sz="1600" dirty="0"/>
              <a:t>+------------------------------+</a:t>
            </a:r>
          </a:p>
          <a:p>
            <a:r>
              <a:rPr lang="en-US" sz="1600" dirty="0"/>
              <a:t>|    Content Grid              |</a:t>
            </a:r>
          </a:p>
          <a:p>
            <a:r>
              <a:rPr lang="en-US" sz="1600" dirty="0"/>
              <a:t>| +-------+ +-------+ +-------+|</a:t>
            </a:r>
          </a:p>
          <a:p>
            <a:r>
              <a:rPr lang="en-US" sz="1600" dirty="0"/>
              <a:t>| | Image | | Image | | Image ||</a:t>
            </a:r>
          </a:p>
          <a:p>
            <a:r>
              <a:rPr lang="en-US" sz="1600" dirty="0"/>
              <a:t>| |  </a:t>
            </a:r>
            <a:r>
              <a:rPr lang="en-US" sz="1600" dirty="0" err="1"/>
              <a:t>Ork</a:t>
            </a:r>
            <a:r>
              <a:rPr lang="en-US" sz="1600" dirty="0"/>
              <a:t>  | |  </a:t>
            </a:r>
            <a:r>
              <a:rPr lang="en-US" sz="1600" dirty="0" err="1"/>
              <a:t>Ork</a:t>
            </a:r>
            <a:r>
              <a:rPr lang="en-US" sz="1600" dirty="0"/>
              <a:t>  | |  </a:t>
            </a:r>
            <a:r>
              <a:rPr lang="en-US" sz="1600" dirty="0" err="1"/>
              <a:t>Ork</a:t>
            </a:r>
            <a:r>
              <a:rPr lang="en-US" sz="1600" dirty="0"/>
              <a:t>  ||</a:t>
            </a:r>
          </a:p>
          <a:p>
            <a:r>
              <a:rPr lang="en-US" sz="1600" dirty="0"/>
              <a:t>| | Lore  | | Units | | Gear  ||</a:t>
            </a:r>
          </a:p>
          <a:p>
            <a:r>
              <a:rPr lang="en-US" sz="1600" dirty="0"/>
              <a:t>| +-------+ +-------+ +-------+|</a:t>
            </a:r>
          </a:p>
          <a:p>
            <a:r>
              <a:rPr lang="en-US" sz="1600" dirty="0"/>
              <a:t>|  (Each box represents a clickable section)|</a:t>
            </a:r>
          </a:p>
          <a:p>
            <a:r>
              <a:rPr lang="en-US" sz="1600" dirty="0"/>
              <a:t>+------------------------------+</a:t>
            </a:r>
          </a:p>
          <a:p>
            <a:r>
              <a:rPr lang="en-US" sz="1600" dirty="0"/>
              <a:t>|       Featured Section       |</a:t>
            </a:r>
          </a:p>
          <a:p>
            <a:r>
              <a:rPr lang="en-US" sz="1600" dirty="0"/>
              <a:t>|  [Image: </a:t>
            </a:r>
            <a:r>
              <a:rPr lang="en-US" sz="1600" dirty="0" err="1"/>
              <a:t>Ork</a:t>
            </a:r>
            <a:r>
              <a:rPr lang="en-US" sz="1600" dirty="0"/>
              <a:t> </a:t>
            </a:r>
            <a:r>
              <a:rPr lang="en-US" sz="1600" dirty="0" err="1"/>
              <a:t>Warboss</a:t>
            </a:r>
            <a:r>
              <a:rPr lang="en-US" sz="1600" dirty="0"/>
              <a:t>]        |</a:t>
            </a:r>
          </a:p>
          <a:p>
            <a:r>
              <a:rPr lang="en-US" sz="1600" dirty="0"/>
              <a:t>|   - Text: "Lead Your Own Mob!"|</a:t>
            </a:r>
          </a:p>
          <a:p>
            <a:r>
              <a:rPr lang="en-US" sz="1600" dirty="0"/>
              <a:t>|   - Button: "Learn More"     |</a:t>
            </a:r>
          </a:p>
          <a:p>
            <a:r>
              <a:rPr lang="en-US" sz="1600" dirty="0"/>
              <a:t>+------------------------------+</a:t>
            </a:r>
          </a:p>
          <a:p>
            <a:r>
              <a:rPr lang="en-US" sz="1600" dirty="0"/>
              <a:t>|       Footer                  |</a:t>
            </a:r>
          </a:p>
          <a:p>
            <a:r>
              <a:rPr lang="en-US" sz="1600" dirty="0"/>
              <a:t>|  - Links to Social Media     |</a:t>
            </a:r>
          </a:p>
          <a:p>
            <a:r>
              <a:rPr lang="en-US" sz="1600" dirty="0"/>
              <a:t>|  - Contact Information       |</a:t>
            </a:r>
          </a:p>
          <a:p>
            <a:r>
              <a:rPr lang="en-US" sz="1600" dirty="0"/>
              <a:t>|  - Copyright &amp; Legal Info    |</a:t>
            </a:r>
          </a:p>
          <a:p>
            <a:r>
              <a:rPr lang="en-US" sz="1600" dirty="0"/>
              <a:t>+------------------------------+</a:t>
            </a:r>
          </a:p>
        </p:txBody>
      </p:sp>
      <p:sp>
        <p:nvSpPr>
          <p:cNvPr id="4" name="TextBox 3">
            <a:extLst>
              <a:ext uri="{FF2B5EF4-FFF2-40B4-BE49-F238E27FC236}">
                <a16:creationId xmlns:a16="http://schemas.microsoft.com/office/drawing/2014/main" id="{305B01F4-E0E3-8CB1-FDF3-1F98D6B2B005}"/>
              </a:ext>
            </a:extLst>
          </p:cNvPr>
          <p:cNvSpPr txBox="1"/>
          <p:nvPr/>
        </p:nvSpPr>
        <p:spPr>
          <a:xfrm>
            <a:off x="1032389" y="2030582"/>
            <a:ext cx="5250426" cy="2123658"/>
          </a:xfrm>
          <a:prstGeom prst="rect">
            <a:avLst/>
          </a:prstGeom>
          <a:noFill/>
        </p:spPr>
        <p:txBody>
          <a:bodyPr wrap="square" rtlCol="0">
            <a:spAutoFit/>
          </a:bodyPr>
          <a:lstStyle/>
          <a:p>
            <a:pPr algn="ctr"/>
            <a:r>
              <a:rPr lang="en-US" sz="6600" dirty="0"/>
              <a:t>Website Wireframe</a:t>
            </a:r>
          </a:p>
        </p:txBody>
      </p:sp>
    </p:spTree>
    <p:extLst>
      <p:ext uri="{BB962C8B-B14F-4D97-AF65-F5344CB8AC3E}">
        <p14:creationId xmlns:p14="http://schemas.microsoft.com/office/powerpoint/2010/main" val="1432098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71D9EC-DC2E-C3F9-6C03-1153A558BB07}"/>
              </a:ext>
            </a:extLst>
          </p:cNvPr>
          <p:cNvSpPr txBox="1"/>
          <p:nvPr/>
        </p:nvSpPr>
        <p:spPr>
          <a:xfrm>
            <a:off x="1602658" y="167149"/>
            <a:ext cx="9645445" cy="707886"/>
          </a:xfrm>
          <a:prstGeom prst="rect">
            <a:avLst/>
          </a:prstGeom>
          <a:noFill/>
        </p:spPr>
        <p:txBody>
          <a:bodyPr wrap="square" rtlCol="0">
            <a:spAutoFit/>
          </a:bodyPr>
          <a:lstStyle/>
          <a:p>
            <a:r>
              <a:rPr lang="en-US" sz="4000" dirty="0"/>
              <a:t>Gestalt Principles Used in Wireframe</a:t>
            </a:r>
          </a:p>
        </p:txBody>
      </p:sp>
      <p:sp>
        <p:nvSpPr>
          <p:cNvPr id="3" name="TextBox 2">
            <a:extLst>
              <a:ext uri="{FF2B5EF4-FFF2-40B4-BE49-F238E27FC236}">
                <a16:creationId xmlns:a16="http://schemas.microsoft.com/office/drawing/2014/main" id="{E0F30FE4-7640-0D03-6151-94B3D23D82D8}"/>
              </a:ext>
            </a:extLst>
          </p:cNvPr>
          <p:cNvSpPr txBox="1"/>
          <p:nvPr/>
        </p:nvSpPr>
        <p:spPr>
          <a:xfrm>
            <a:off x="973394" y="963562"/>
            <a:ext cx="2212258" cy="4247317"/>
          </a:xfrm>
          <a:prstGeom prst="rect">
            <a:avLst/>
          </a:prstGeom>
          <a:noFill/>
        </p:spPr>
        <p:txBody>
          <a:bodyPr wrap="square" rtlCol="0">
            <a:spAutoFit/>
          </a:bodyPr>
          <a:lstStyle/>
          <a:p>
            <a:pPr algn="ctr"/>
            <a:r>
              <a:rPr lang="en-US" dirty="0"/>
              <a:t>Proximity :</a:t>
            </a:r>
          </a:p>
          <a:p>
            <a:pPr algn="ctr"/>
            <a:endParaRPr lang="en-US" dirty="0"/>
          </a:p>
          <a:p>
            <a:pPr algn="ctr"/>
            <a:r>
              <a:rPr lang="en-US" dirty="0"/>
              <a:t>The navigation elements in the header are grouped closely together, indicating they are part of the same navigation system. Similarly, the footer elements are grouped, suggesting they are related for site information and connectivity.</a:t>
            </a:r>
          </a:p>
        </p:txBody>
      </p:sp>
      <p:sp>
        <p:nvSpPr>
          <p:cNvPr id="5" name="TextBox 4">
            <a:extLst>
              <a:ext uri="{FF2B5EF4-FFF2-40B4-BE49-F238E27FC236}">
                <a16:creationId xmlns:a16="http://schemas.microsoft.com/office/drawing/2014/main" id="{93E86D91-C692-3CE1-EE54-41ED6F7F4E0C}"/>
              </a:ext>
            </a:extLst>
          </p:cNvPr>
          <p:cNvSpPr txBox="1"/>
          <p:nvPr/>
        </p:nvSpPr>
        <p:spPr>
          <a:xfrm>
            <a:off x="4814673" y="1035818"/>
            <a:ext cx="2120202" cy="4247317"/>
          </a:xfrm>
          <a:prstGeom prst="rect">
            <a:avLst/>
          </a:prstGeom>
          <a:noFill/>
        </p:spPr>
        <p:txBody>
          <a:bodyPr wrap="square" rtlCol="0">
            <a:spAutoFit/>
          </a:bodyPr>
          <a:lstStyle/>
          <a:p>
            <a:pPr algn="ctr"/>
            <a:r>
              <a:rPr lang="en-US" dirty="0"/>
              <a:t>Similarity :</a:t>
            </a:r>
          </a:p>
          <a:p>
            <a:pPr algn="ctr"/>
            <a:endParaRPr lang="en-US" dirty="0"/>
          </a:p>
          <a:p>
            <a:pPr algn="ctr"/>
            <a:r>
              <a:rPr lang="en-US" dirty="0"/>
              <a:t>In the content grid, each box uses similar formatting and structure. This similarity cues the user that these are related items or different categories of information about Orks, aiding in visual organization and user navigation.</a:t>
            </a:r>
          </a:p>
        </p:txBody>
      </p:sp>
      <p:sp>
        <p:nvSpPr>
          <p:cNvPr id="6" name="TextBox 5">
            <a:extLst>
              <a:ext uri="{FF2B5EF4-FFF2-40B4-BE49-F238E27FC236}">
                <a16:creationId xmlns:a16="http://schemas.microsoft.com/office/drawing/2014/main" id="{3CAD08EF-E510-B0BC-8E96-B7E6916E6FBF}"/>
              </a:ext>
            </a:extLst>
          </p:cNvPr>
          <p:cNvSpPr txBox="1"/>
          <p:nvPr/>
        </p:nvSpPr>
        <p:spPr>
          <a:xfrm>
            <a:off x="8563896" y="1035818"/>
            <a:ext cx="3205316" cy="2862322"/>
          </a:xfrm>
          <a:prstGeom prst="rect">
            <a:avLst/>
          </a:prstGeom>
          <a:noFill/>
        </p:spPr>
        <p:txBody>
          <a:bodyPr wrap="square" rtlCol="0">
            <a:spAutoFit/>
          </a:bodyPr>
          <a:lstStyle/>
          <a:p>
            <a:pPr algn="ctr"/>
            <a:r>
              <a:rPr lang="en-US" dirty="0"/>
              <a:t>Figure-Ground Relationship :</a:t>
            </a:r>
          </a:p>
          <a:p>
            <a:pPr algn="ctr"/>
            <a:endParaRPr lang="en-US" dirty="0"/>
          </a:p>
          <a:p>
            <a:pPr algn="ctr"/>
            <a:r>
              <a:rPr lang="en-US" dirty="0"/>
              <a:t>The large battle scene image in the hero section serves as the foreground, with the text overlay acting as part of the background. This design helps the text stand out, making it clear that it's the primary focus of that section.</a:t>
            </a:r>
          </a:p>
        </p:txBody>
      </p:sp>
    </p:spTree>
    <p:extLst>
      <p:ext uri="{BB962C8B-B14F-4D97-AF65-F5344CB8AC3E}">
        <p14:creationId xmlns:p14="http://schemas.microsoft.com/office/powerpoint/2010/main" val="108430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3660-96C6-E760-69D9-42A0F44EDD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DC18C4-C20F-6D96-A751-38C174D8D9B8}"/>
              </a:ext>
            </a:extLst>
          </p:cNvPr>
          <p:cNvSpPr txBox="1"/>
          <p:nvPr/>
        </p:nvSpPr>
        <p:spPr>
          <a:xfrm>
            <a:off x="3559278" y="0"/>
            <a:ext cx="4434348" cy="830997"/>
          </a:xfrm>
          <a:prstGeom prst="rect">
            <a:avLst/>
          </a:prstGeom>
          <a:noFill/>
        </p:spPr>
        <p:txBody>
          <a:bodyPr wrap="square" rtlCol="0">
            <a:spAutoFit/>
          </a:bodyPr>
          <a:lstStyle/>
          <a:p>
            <a:pPr algn="ctr"/>
            <a:r>
              <a:rPr lang="en-US" sz="4800" dirty="0"/>
              <a:t>References</a:t>
            </a:r>
          </a:p>
        </p:txBody>
      </p:sp>
      <p:sp>
        <p:nvSpPr>
          <p:cNvPr id="3" name="TextBox 2">
            <a:extLst>
              <a:ext uri="{FF2B5EF4-FFF2-40B4-BE49-F238E27FC236}">
                <a16:creationId xmlns:a16="http://schemas.microsoft.com/office/drawing/2014/main" id="{ADB72BF2-5A52-B37F-5119-6A8C7437E3AB}"/>
              </a:ext>
            </a:extLst>
          </p:cNvPr>
          <p:cNvSpPr txBox="1"/>
          <p:nvPr/>
        </p:nvSpPr>
        <p:spPr>
          <a:xfrm>
            <a:off x="1573161" y="1602658"/>
            <a:ext cx="9753600" cy="2585323"/>
          </a:xfrm>
          <a:prstGeom prst="rect">
            <a:avLst/>
          </a:prstGeom>
          <a:noFill/>
        </p:spPr>
        <p:txBody>
          <a:bodyPr wrap="square" rtlCol="0">
            <a:spAutoFit/>
          </a:bodyPr>
          <a:lstStyle/>
          <a:p>
            <a:r>
              <a:rPr lang="en-US" dirty="0" err="1"/>
              <a:t>Shneiderman</a:t>
            </a:r>
            <a:r>
              <a:rPr lang="en-US" dirty="0"/>
              <a:t>, B., </a:t>
            </a:r>
            <a:r>
              <a:rPr lang="en-US" dirty="0" err="1"/>
              <a:t>Plaisant</a:t>
            </a:r>
            <a:r>
              <a:rPr lang="en-US" dirty="0"/>
              <a:t>, C., Cohen, M., Jacobs, S., </a:t>
            </a:r>
            <a:r>
              <a:rPr lang="en-US" dirty="0" err="1"/>
              <a:t>Elmqvist</a:t>
            </a:r>
            <a:r>
              <a:rPr lang="en-US" dirty="0"/>
              <a:t>, N., &amp; </a:t>
            </a:r>
            <a:r>
              <a:rPr lang="en-US" dirty="0" err="1"/>
              <a:t>Diakopou</a:t>
            </a:r>
            <a:r>
              <a:rPr lang="en-US" dirty="0"/>
              <a:t>, N. (2016). Designing the User Interface (6th ed.). Pearson Education (US). </a:t>
            </a:r>
            <a:r>
              <a:rPr lang="en-US" dirty="0">
                <a:hlinkClick r:id="rId2"/>
              </a:rPr>
              <a:t>https://purdueuniversityglobal.vitalsource.com/books/9780134380735</a:t>
            </a:r>
            <a:endParaRPr lang="en-US" dirty="0"/>
          </a:p>
          <a:p>
            <a:endParaRPr lang="en-US" dirty="0"/>
          </a:p>
          <a:p>
            <a:r>
              <a:rPr lang="en-US" dirty="0">
                <a:effectLst/>
              </a:rPr>
              <a:t>Interaction Design Foundation. (2024, May 8). </a:t>
            </a:r>
            <a:r>
              <a:rPr lang="en-US" i="1" dirty="0">
                <a:effectLst/>
              </a:rPr>
              <a:t>What are the gestalt principles? - updated 2024</a:t>
            </a:r>
            <a:r>
              <a:rPr lang="en-US" dirty="0">
                <a:effectLst/>
              </a:rPr>
              <a:t>. The Interaction Design Foundation. https://www.interaction-design.org/literature/topics/gestalt-principles </a:t>
            </a:r>
            <a:endParaRPr lang="en-US" dirty="0"/>
          </a:p>
          <a:p>
            <a:endParaRPr lang="en-US" dirty="0"/>
          </a:p>
          <a:p>
            <a:endParaRPr lang="en-US" dirty="0"/>
          </a:p>
        </p:txBody>
      </p:sp>
    </p:spTree>
    <p:extLst>
      <p:ext uri="{BB962C8B-B14F-4D97-AF65-F5344CB8AC3E}">
        <p14:creationId xmlns:p14="http://schemas.microsoft.com/office/powerpoint/2010/main" val="295559457"/>
      </p:ext>
    </p:extLst>
  </p:cSld>
  <p:clrMapOvr>
    <a:masterClrMapping/>
  </p:clrMapOvr>
</p:sld>
</file>

<file path=ppt/theme/theme1.xml><?xml version="1.0" encoding="utf-8"?>
<a:theme xmlns:a="http://schemas.openxmlformats.org/drawingml/2006/main" name="RegattaVTI">
  <a:themeElements>
    <a:clrScheme name="AnalogousFromLightSeedRightStep">
      <a:dk1>
        <a:srgbClr val="000000"/>
      </a:dk1>
      <a:lt1>
        <a:srgbClr val="FFFFFF"/>
      </a:lt1>
      <a:dk2>
        <a:srgbClr val="3A3621"/>
      </a:dk2>
      <a:lt2>
        <a:srgbClr val="E2E8E5"/>
      </a:lt2>
      <a:accent1>
        <a:srgbClr val="EA73A4"/>
      </a:accent1>
      <a:accent2>
        <a:srgbClr val="E55454"/>
      </a:accent2>
      <a:accent3>
        <a:srgbClr val="E59053"/>
      </a:accent3>
      <a:accent4>
        <a:srgbClr val="B6A343"/>
      </a:accent4>
      <a:accent5>
        <a:srgbClr val="95AB54"/>
      </a:accent5>
      <a:accent6>
        <a:srgbClr val="69B643"/>
      </a:accent6>
      <a:hlink>
        <a:srgbClr val="578F78"/>
      </a:hlink>
      <a:folHlink>
        <a:srgbClr val="7F7F7F"/>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otalTime>317</TotalTime>
  <Words>1217</Words>
  <Application>Microsoft Office PowerPoint</Application>
  <PresentationFormat>Widescreen</PresentationFormat>
  <Paragraphs>105</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Walbaum Display</vt:lpstr>
      <vt:lpstr>RegattaVTI</vt:lpstr>
      <vt:lpstr>Gestalt  Principles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Mclean</dc:creator>
  <cp:lastModifiedBy>Christian Mclean</cp:lastModifiedBy>
  <cp:revision>1</cp:revision>
  <dcterms:created xsi:type="dcterms:W3CDTF">2024-11-19T22:42:11Z</dcterms:created>
  <dcterms:modified xsi:type="dcterms:W3CDTF">2026-07-17T18:09:44Z</dcterms:modified>
</cp:coreProperties>
</file>